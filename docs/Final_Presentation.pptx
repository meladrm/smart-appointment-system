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B7A1F"/>
                </a:solidFill>
                <a:latin typeface="Calibri"/>
              </a:rPr>
              <a:t>SOFTWARE 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Smart Appointment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Booking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380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Ahed Akrout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B7A1F"/>
                </a:solidFill>
                <a:latin typeface="Calibri"/>
              </a:rPr>
              <a:t>Backend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380"/>
                </a:solidFill>
                <a:latin typeface="Calibri"/>
              </a:rPr>
              <a:t>Project Managing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 &amp; Our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40680" cy="50292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440680" cy="4069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983480" cy="3840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Manual booking processes (phone calls, paper records) are slow and error-prone.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Customers cannot see real-time availability before contacting a business.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Double bookings and scheduling conflicts happen often in busy practices.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Business owners have no central view of appointments, services, or feedback.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No reliable way to track customer history or no-show rates.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440680" cy="502920"/>
          </a:xfrm>
          <a:prstGeom prst="rect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440680" cy="4069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983480" cy="3840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A web-based platform where customers can book, modify, or cancel appointments online.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Real-time slot availability — no double bookings, ever.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Each business gets its own page, services menu, and weekly hours.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Owners see today's appointments, weekly trends, and customer reviews on one dashboard.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Admins approve new businesses and oversee the platform from a single panel.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Who Uses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127" y="1554480"/>
            <a:ext cx="3657600" cy="502920"/>
          </a:xfrm>
          <a:prstGeom prst="rect">
            <a:avLst/>
          </a:prstGeom>
          <a:solidFill>
            <a:srgbClr val="2E7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727" y="1645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127" y="2057400"/>
            <a:ext cx="3657600" cy="3794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" y="2286000"/>
            <a:ext cx="3200400" cy="3520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Browses businesses by category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Books appointments online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Cancels or reschedules at any time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Leaves reviews after a visit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Receives email confirmations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1554480"/>
            <a:ext cx="3657600" cy="502920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647" y="1645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Business 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047" y="2057400"/>
            <a:ext cx="3657600" cy="3794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367" y="2286000"/>
            <a:ext cx="3200400" cy="3520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Manages a public business page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Sets services, prices, durations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Defines weekly hours and availability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Views and updates appointments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Replies to customer reviews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8967" y="1554480"/>
            <a:ext cx="36576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7567" y="1645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Administrator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8967" y="2057400"/>
            <a:ext cx="3657600" cy="3794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3287" y="2286000"/>
            <a:ext cx="3200400" cy="35204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Approves new business applications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Oversees all users and businesses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Moderates reviews if needed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Audits all admin actions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Suspends or reactivates accounts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3999" y="1554480"/>
            <a:ext cx="2697480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659" y="1920240"/>
            <a:ext cx="1280160" cy="12801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2659" y="19202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879" y="3428999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Melad Mustafabadran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" y="38862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7A1F"/>
                </a:solidFill>
                <a:latin typeface="Calibri"/>
              </a:rPr>
              <a:t>Team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" y="420624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7380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319" y="4663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22B38"/>
                </a:solidFill>
                <a:latin typeface="Calibri"/>
              </a:rPr>
              <a:t>Project planning · Frontend pages · Coordination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6071" y="1554480"/>
            <a:ext cx="2697480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24731" y="1920240"/>
            <a:ext cx="1280160" cy="12801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4731" y="19202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8951" y="3428999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Beste Ozkan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8951" y="38862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7A1F"/>
                </a:solidFill>
                <a:latin typeface="Calibri"/>
              </a:rPr>
              <a:t>Designer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8951" y="420624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7380"/>
                </a:solidFill>
                <a:latin typeface="Calibri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0391" y="4663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22B38"/>
                </a:solidFill>
                <a:latin typeface="Calibri"/>
              </a:rPr>
              <a:t>UI/UX design · Visual identity · Component styling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8143" y="1554480"/>
            <a:ext cx="2697480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86803" y="1920240"/>
            <a:ext cx="1280160" cy="12801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6803" y="19202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023" y="3428999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Ahed Akrout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1023" y="38862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7A1F"/>
                </a:solidFill>
                <a:latin typeface="Calibri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1023" y="420624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7380"/>
                </a:solidFill>
                <a:latin typeface="Calibri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463" y="4663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22B38"/>
                </a:solidFill>
                <a:latin typeface="Calibri"/>
              </a:rPr>
              <a:t>Flask routes · MySQL schema · API logic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0215" y="1554480"/>
            <a:ext cx="2697480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48875" y="1920240"/>
            <a:ext cx="1280160" cy="12801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8875" y="19202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3095" y="3428999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3A5F"/>
                </a:solidFill>
                <a:latin typeface="Calibri"/>
              </a:rPr>
              <a:t>Osamah Naji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095" y="38862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7A1F"/>
                </a:solidFill>
                <a:latin typeface="Calibri"/>
              </a:rPr>
              <a:t>Tester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3095" y="420624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7380"/>
                </a:solidFill>
                <a:latin typeface="Calibri"/>
              </a:rPr>
              <a:t>QA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4535" y="4663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22B38"/>
                </a:solidFill>
                <a:latin typeface="Calibri"/>
              </a:rPr>
              <a:t>Test plan · Test cases · System validation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8 WEEKS · 8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01852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444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Responsible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447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Deadline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44475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10185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3852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38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3852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Project Requirements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938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Melad · Ahed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3852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25 Feb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9385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A773D"/>
                </a:solidFill>
                <a:latin typeface="Calibri"/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44144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3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441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UI/UX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4414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Beste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414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01 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4414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A773D"/>
                </a:solidFill>
                <a:latin typeface="Calibri"/>
              </a:rPr>
              <a:t>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34640"/>
            <a:ext cx="110185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94436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38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29443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Website Pages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9443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Melad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9443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20 Mar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94436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A773D"/>
                </a:solidFill>
                <a:latin typeface="Calibri"/>
              </a:rPr>
              <a:t>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44728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38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44728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Backend API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4472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Ahed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472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10 Apr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4472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A773D"/>
                </a:solidFill>
                <a:latin typeface="Calibri"/>
              </a:rPr>
              <a:t>Done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110185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95020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38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395020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Database Implementation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9502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Ahed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9502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20 Apr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9502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A773D"/>
                </a:solidFill>
                <a:latin typeface="Calibri"/>
              </a:rPr>
              <a:t>Done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45312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38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45312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System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44531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Osamah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45312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25 Apr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4531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A773D"/>
                </a:solidFill>
                <a:latin typeface="Calibri"/>
              </a:rPr>
              <a:t>Done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846320"/>
            <a:ext cx="110185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495604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38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9560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Bug Fixing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49560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Melad · Ahed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9560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01 May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49560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In Progress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45896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38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545896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Documentation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54589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All Members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4589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05 May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545896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In Progress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Calibri"/>
              </a:rPr>
              <a:t>6 of 8 milestones completed · 2 in progress · Status updated 30 April 2026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By the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567" y="1554480"/>
            <a:ext cx="2697480" cy="2148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567" y="1554480"/>
            <a:ext cx="2697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567" y="19202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1F3A5F"/>
                </a:solidFill>
                <a:latin typeface="Calibr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29718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Python source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6927" y="1554480"/>
            <a:ext cx="2697480" cy="2148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6927" y="1554480"/>
            <a:ext cx="269748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6927" y="19202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1F3A5F"/>
                </a:solidFill>
                <a:latin typeface="Calibri"/>
              </a:rPr>
              <a:t>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07" y="29718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Lines of Python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554480"/>
            <a:ext cx="2697480" cy="2148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7287" y="1554480"/>
            <a:ext cx="2697480" cy="54864"/>
          </a:xfrm>
          <a:prstGeom prst="rect">
            <a:avLst/>
          </a:prstGeom>
          <a:solidFill>
            <a:srgbClr val="2E7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7287" y="19202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E74B6"/>
                </a:solidFill>
                <a:latin typeface="Calibri"/>
              </a:rPr>
              <a:t>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9718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HTTP routes registered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67647" y="1554480"/>
            <a:ext cx="2697480" cy="2148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7647" y="1554480"/>
            <a:ext cx="2697480" cy="54864"/>
          </a:xfrm>
          <a:prstGeom prst="rect">
            <a:avLst/>
          </a:prstGeom>
          <a:solidFill>
            <a:srgbClr val="2E7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7647" y="19202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E74B6"/>
                </a:solidFill>
                <a:latin typeface="Calibri"/>
              </a:rPr>
              <a:t>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0527" y="29718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Jinja2 templates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567" y="3886200"/>
            <a:ext cx="2697480" cy="2148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567" y="3886200"/>
            <a:ext cx="2697480" cy="54864"/>
          </a:xfrm>
          <a:prstGeom prst="rect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567" y="425196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0A773D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447" y="53035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Automated tests passing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06927" y="3886200"/>
            <a:ext cx="2697480" cy="2148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06927" y="3886200"/>
            <a:ext cx="2697480" cy="54864"/>
          </a:xfrm>
          <a:prstGeom prst="rect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06927" y="425196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0A773D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9807" y="53035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Failing tests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7287" y="3886200"/>
            <a:ext cx="2697480" cy="2148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7287" y="3886200"/>
            <a:ext cx="2697480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7287" y="425196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DB7A1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53035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User access levels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67647" y="3886200"/>
            <a:ext cx="2697480" cy="2148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67647" y="3886200"/>
            <a:ext cx="2697480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67647" y="425196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DB7A1F"/>
                </a:solidFill>
                <a:latin typeface="Calibri"/>
              </a:rPr>
              <a:t>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0527" y="53035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UI screenshots captured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7380"/>
                </a:solidFill>
                <a:latin typeface="Calibri"/>
              </a:rPr>
              <a:t>Numbers measured directly from the project repository on 5 May 2026.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HOW IT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047" y="1554480"/>
            <a:ext cx="2011680" cy="1188720"/>
          </a:xfrm>
          <a:prstGeom prst="rect">
            <a:avLst/>
          </a:prstGeom>
          <a:solidFill>
            <a:srgbClr val="2E7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155448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49727" y="1554480"/>
            <a:ext cx="8503920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8327" y="171907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HTML · CSS · Bootstrap 5 · Jinja2 templates · Vanilla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8327" y="21488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22B38"/>
                </a:solidFill>
                <a:latin typeface="Calibri"/>
              </a:rPr>
              <a:t>Lightweight pages that render fast and work on any device.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047" y="2907792"/>
            <a:ext cx="2011680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047" y="2907792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9727" y="2907792"/>
            <a:ext cx="8503920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8327" y="307238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Python 3.11 · Flask · Werkzeug · Role-based decorators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8327" y="350215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22B38"/>
                </a:solidFill>
                <a:latin typeface="Calibri"/>
              </a:rPr>
              <a:t>Clean route handlers, password hashing, and login throttling.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047" y="4261104"/>
            <a:ext cx="2011680" cy="1188720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047" y="4261104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9727" y="4261104"/>
            <a:ext cx="8503920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8327" y="442569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MySQL 8 · mysql-connector-python · Connection pooling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8327" y="4855464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22B38"/>
                </a:solidFill>
                <a:latin typeface="Calibri"/>
              </a:rPr>
              <a:t>Real relational storage for users, businesses, services, appointments and reviews.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047" y="5532120"/>
            <a:ext cx="1051560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2367" y="557784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B7A1F"/>
                </a:solidFill>
                <a:latin typeface="Calibri"/>
              </a:rPr>
              <a:t>Tooling &amp;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2367" y="589788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GitHub for version control  ·  GitHub Actions for continuous integration  ·  Python unittest for automated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THE CORE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Booking in 3 Clicks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127" y="1554480"/>
            <a:ext cx="3657600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287" y="1874520"/>
            <a:ext cx="1097280" cy="1097280"/>
          </a:xfrm>
          <a:prstGeom prst="ellipse">
            <a:avLst/>
          </a:prstGeom>
          <a:solidFill>
            <a:srgbClr val="2E7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287" y="187452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3A5F"/>
                </a:solidFill>
                <a:latin typeface="Calibri"/>
              </a:rPr>
              <a:t>Pick a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3794760"/>
            <a:ext cx="292608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Customer opens a business page and selects from the services menu. Duration and price are shown right away — no surprises later.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047" y="1554480"/>
            <a:ext cx="3657600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47207" y="1874520"/>
            <a:ext cx="1097280" cy="1097280"/>
          </a:xfrm>
          <a:prstGeom prst="ellipse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7207" y="187452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3A5F"/>
                </a:solidFill>
                <a:latin typeface="Calibri"/>
              </a:rPr>
              <a:t>Choose date &amp;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807" y="3794760"/>
            <a:ext cx="292608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Only slots that are actually free appear. Weekly hours, existing bookings and service duration are all checked in real time so the customer never sees a slot they cannot 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8967" y="1554480"/>
            <a:ext cx="3657600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79127" y="1874520"/>
            <a:ext cx="1097280" cy="1097280"/>
          </a:xfrm>
          <a:prstGeom prst="ellipse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9127" y="187452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3287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3A5F"/>
                </a:solidFill>
                <a:latin typeface="Calibri"/>
              </a:rPr>
              <a:t>Confirm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4727" y="3794760"/>
            <a:ext cx="292608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B38"/>
                </a:solidFill>
                <a:latin typeface="Calibri"/>
              </a:rPr>
              <a:t>One click confirms. Both the customer and the business owner receive an email and an in-app notification. The appointment shows up instantly on each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1F3A5F"/>
                </a:solidFill>
                <a:latin typeface="Calibri"/>
              </a:rPr>
              <a:t>No double bookings. No back-and-forth phone calls. Confirmed in seconds.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LIVE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Customer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expl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884" y="1280160"/>
            <a:ext cx="2830982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457200" y="3095244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40964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Explore — browse businesses by 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3" y="1280160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busines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948" y="1280160"/>
            <a:ext cx="1754741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178143" y="3095244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3140964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detail — services, gallery, reviews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82796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7_booking_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414" y="4082796"/>
            <a:ext cx="2367922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457200" y="5897880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943600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Booking calendar — pick a free slot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4082796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8_user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718" y="4082796"/>
            <a:ext cx="2381200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6178143" y="5897880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5303" y="5943600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My dashboard — appointments at a glance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LIVE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Owner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biz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50" y="1280160"/>
            <a:ext cx="1724650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457200" y="3095244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40964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Owner dashboard — today's schedule and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3" y="1280160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_biz_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827" y="1280160"/>
            <a:ext cx="2830982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178143" y="3095244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3140964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Services menu — set name, duration,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82796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4_biz_avail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884" y="4082796"/>
            <a:ext cx="2830982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457200" y="5897880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943600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Availability — pick which slots are open per 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4082796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6_biz_revie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299" y="4082796"/>
            <a:ext cx="2724038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6178143" y="5897880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5303" y="5943600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Reviews — read feedback and reply to customers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LIVE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Administrator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8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253" y="1280160"/>
            <a:ext cx="2200245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457200" y="3095244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40964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Admin dashboard — platform-wide stats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3" y="1280160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0_admin_busine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827" y="1280160"/>
            <a:ext cx="2830982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178143" y="3095244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3140964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Businesses — toggle featured, suspend, delete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82796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1_admi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884" y="4082796"/>
            <a:ext cx="2830982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457200" y="5897880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943600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Users — flag no-show offenders, edit roles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4082796"/>
            <a:ext cx="5556351" cy="17693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23_admin_au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827" y="4082796"/>
            <a:ext cx="2830982" cy="1769364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6178143" y="5897880"/>
            <a:ext cx="5556351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5303" y="5943600"/>
            <a:ext cx="52820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Audit log — every admin action is recorded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ONE TOGGLE · IDENTICAL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Dark Theme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427" y="1371600"/>
            <a:ext cx="3611880" cy="3383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4_hom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52" y="1371600"/>
            <a:ext cx="1963429" cy="3383280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449427" y="4800600"/>
            <a:ext cx="361188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427" y="48463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9907" y="1371600"/>
            <a:ext cx="3611880" cy="3383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5_explor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1934527"/>
            <a:ext cx="3611880" cy="2257425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4289907" y="4800600"/>
            <a:ext cx="361188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9907" y="48463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Explore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0387" y="1371600"/>
            <a:ext cx="3611880" cy="3383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6_business_pag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667" y="1371600"/>
            <a:ext cx="3355319" cy="3383280"/>
          </a:xfrm>
          <a:prstGeom prst="rect">
            <a:avLst/>
          </a:prstGeom>
          <a:ln w="6350">
            <a:solidFill>
              <a:srgbClr val="E0E4EA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8130387" y="4800600"/>
            <a:ext cx="361188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0387" y="48463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Business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222B38"/>
                </a:solidFill>
                <a:latin typeface="Calibri"/>
              </a:rPr>
              <a:t>A single toggle switches the whole site to dark mode — easier on the eyes in low light, and a modern feel on every page.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SIX CONTROLS IN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Security in Depth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361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Password hashing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2024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B38"/>
                </a:solidFill>
                <a:latin typeface="Calibri"/>
              </a:rPr>
              <a:t>Werkzeug PBKDF2-HMAC-SHA256 with a per-password salt. Plain text passwords are never stored.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57784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60020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5361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Signed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2024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B38"/>
                </a:solidFill>
                <a:latin typeface="Calibri"/>
              </a:rPr>
              <a:t>Flask session cookies are HMAC-signed with the server secret key — clients cannot forge a session.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53512"/>
            <a:ext cx="557784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182112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8211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118104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Role-based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502152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B38"/>
                </a:solidFill>
                <a:latin typeface="Calibri"/>
              </a:rPr>
              <a:t>Every protected route uses @login_required or @role_required. Three distinct roles: user, business owner, admin.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53512"/>
            <a:ext cx="557784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3182112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18211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118104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Owner scoping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02152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B38"/>
                </a:solidFill>
                <a:latin typeface="Calibri"/>
              </a:rPr>
              <a:t>Owner queries always filter by owner_id, so business owners can never see another business's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35424"/>
            <a:ext cx="557784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764024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6402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70001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Login rate limiting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084064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B38"/>
                </a:solidFill>
                <a:latin typeface="Calibri"/>
              </a:rPr>
              <a:t>Five failed logins from the same IP within 10 minutes triggers a temporary block. Generic error message — no user enumeration.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535424"/>
            <a:ext cx="557784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46520" y="4764024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6402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70001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Audit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084064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B38"/>
                </a:solidFill>
                <a:latin typeface="Calibri"/>
              </a:rPr>
              <a:t>Every admin action (approve, reject, override, delete) is recorded with actor, target and timestamp.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IDENTIFIED &amp; MITIGATED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Risk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" cy="8686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15568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Double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39"/>
                </a:solidFill>
                <a:latin typeface="Calibri"/>
              </a:rPr>
              <a:t>Risk level: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490472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System checks the slot in real time before confirming the booking. Slot logic accounts for service duration so longer appointments cannot overlap.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13432"/>
            <a:ext cx="109728" cy="8686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313432"/>
            <a:ext cx="1115568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8658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Unauthorized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249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39"/>
                </a:solidFill>
                <a:latin typeface="Calibri"/>
              </a:rPr>
              <a:t>Risk level: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432304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Role-based decorators on every protected route. Three distinct roles (user, business_owner, admin) — each has its own access boundary.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55264"/>
            <a:ext cx="109728" cy="8686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255264"/>
            <a:ext cx="1115568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2841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Authentication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6674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39"/>
                </a:solidFill>
                <a:latin typeface="Calibri"/>
              </a:rPr>
              <a:t>Risk level: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374136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Passwords hashed with Werkzeug. Login throttling blocks an IP after 5 failed attempts within 10 minutes.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97096"/>
            <a:ext cx="109728" cy="8686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97096"/>
            <a:ext cx="1115568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702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User Input Errors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0857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03939"/>
                </a:solidFill>
                <a:latin typeface="Calibri"/>
              </a:rPr>
              <a:t>Risk level: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31596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Server-side validation on every form (email, phone, hex color, time, date). Bad input is rejected with clear messages.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38928"/>
            <a:ext cx="109728" cy="868680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138928"/>
            <a:ext cx="1115568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212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Database Data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504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DB7A1F"/>
                </a:solidFill>
                <a:latin typeface="Calibri"/>
              </a:rPr>
              <a:t>Risk level: 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25780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Database access is centralised in db.py. Schema migrations are tracked in version control so the structure can be rebuilt at any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OUR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Success Criteria — Achieved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1732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B38"/>
                </a:solidFill>
                <a:latin typeface="Calibri"/>
              </a:rPr>
              <a:t>Registration and login operate without errors and store user information correctly.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24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B38"/>
                </a:solidFill>
                <a:latin typeface="Calibri"/>
              </a:rPr>
              <a:t>Booking information is stored correctly with a clear confirmation message.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31336"/>
            <a:ext cx="365760" cy="365760"/>
          </a:xfrm>
          <a:prstGeom prst="ellipse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31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31336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B38"/>
                </a:solidFill>
                <a:latin typeface="Calibri"/>
              </a:rPr>
              <a:t>Already-reserved slots are rejected — users see a helpful suggestion for the next free slot.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038344"/>
            <a:ext cx="365760" cy="365760"/>
          </a:xfrm>
          <a:prstGeom prst="ellipse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38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38344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B38"/>
                </a:solidFill>
                <a:latin typeface="Calibri"/>
              </a:rPr>
              <a:t>Users can cancel or modify appointments; staff can view and manage all scheduled appointments.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1417320"/>
            <a:ext cx="365760" cy="365760"/>
          </a:xfrm>
          <a:prstGeom prst="ellipse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41732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B38"/>
                </a:solidFill>
                <a:latin typeface="Calibri"/>
              </a:rPr>
              <a:t>Role permissions are enforced consistently across every protected route.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2624328"/>
            <a:ext cx="365760" cy="365760"/>
          </a:xfrm>
          <a:prstGeom prst="ellipse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624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624328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B38"/>
                </a:solidFill>
                <a:latin typeface="Calibri"/>
              </a:rPr>
              <a:t>User authentication is secure (hashed passwords, IP throttling, session-based).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3831336"/>
            <a:ext cx="365760" cy="365760"/>
          </a:xfrm>
          <a:prstGeom prst="ellipse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831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831336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B38"/>
                </a:solidFill>
                <a:latin typeface="Calibri"/>
              </a:rPr>
              <a:t>The platform performs reliably under multiple simultaneous user requests.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5038344"/>
            <a:ext cx="365760" cy="365760"/>
          </a:xfrm>
          <a:prstGeom prst="ellipse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50383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038344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B38"/>
                </a:solidFill>
                <a:latin typeface="Calibri"/>
              </a:rPr>
              <a:t>The project was delivered within the 8-week development timeline.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WHAT IS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• AI-based booking recommendations — suggest times and services based on the customer's history.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• Mobile applications — native iOS and Android clients on top of the same backend.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• SMS notifications — appointment reminders the day before, plus 1-hour-out alerts.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• Online payments — accept card payments at the time of booking.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• Analytics for business owners — deeper revenue, retention and demand-forecasting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54880"/>
            <a:ext cx="10881360" cy="1554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Thank you — we welcome your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B7A1F"/>
                </a:solidFill>
                <a:latin typeface="Calibri"/>
              </a:rPr>
              <a:t>Ahed Akrout   ·   Backend Developer   ·   Smart Appointment Booking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 Appointment Booking System — Project Managing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
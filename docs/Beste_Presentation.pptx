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54864"/>
          </a:xfrm>
          <a:prstGeom prst="rect">
            <a:avLst/>
          </a:prstGeom>
          <a:solidFill>
            <a:srgbClr val="DB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DB7A1F"/>
                </a:solidFill>
                <a:latin typeface="Calibri"/>
              </a:rPr>
              <a:t>SOFTWARE PROJECT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SmartBook Pro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 i="0">
                <a:solidFill>
                  <a:srgbClr val="FFFFFF"/>
                </a:solidFill>
                <a:latin typeface="Calibri"/>
              </a:rPr>
              <a:t>UI / UX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062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B7380"/>
                </a:solidFill>
                <a:latin typeface="Calibri"/>
              </a:rPr>
              <a:t>Presented by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8056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Beste Ozkan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983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DB7A1F"/>
                </a:solidFill>
                <a:latin typeface="Calibri"/>
              </a:rPr>
              <a:t>Designer — Front 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7380"/>
                </a:solidFill>
                <a:latin typeface="Calibri"/>
              </a:rPr>
              <a:t>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B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B7A1F"/>
                </a:solidFill>
                <a:latin typeface="Calibri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The Design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F3A5F"/>
                </a:solidFill>
                <a:latin typeface="Calibri"/>
              </a:rPr>
              <a:t>One product, three very different users.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377440"/>
            <a:ext cx="3657600" cy="30175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377440"/>
            <a:ext cx="3657600" cy="4572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45059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Customer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017520"/>
            <a:ext cx="3200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22B38"/>
                </a:solidFill>
                <a:latin typeface="Calibri"/>
              </a:rPr>
              <a:t>Books appointments, browses by category, leaves reviews after a visit.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480560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2E74B6"/>
                </a:solidFill>
                <a:latin typeface="Calibri"/>
              </a:rPr>
              <a:t>Wants speed and clear pricing.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2377440"/>
            <a:ext cx="3657600" cy="30175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0" y="2377440"/>
            <a:ext cx="3657600" cy="4572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245059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Business Owner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3017520"/>
            <a:ext cx="3200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22B38"/>
                </a:solidFill>
                <a:latin typeface="Calibri"/>
              </a:rPr>
              <a:t>Manages a public profile, services menu, weekly hours and bookings.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4480560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2E74B6"/>
                </a:solidFill>
                <a:latin typeface="Calibri"/>
              </a:rPr>
              <a:t>Wants clarity on today's schedule and customer feedback.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12480" y="2377440"/>
            <a:ext cx="3657600" cy="30175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412480" y="2377440"/>
            <a:ext cx="3657600" cy="4572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0" y="245059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Admin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1080" y="3017520"/>
            <a:ext cx="3200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22B38"/>
                </a:solidFill>
                <a:latin typeface="Calibri"/>
              </a:rPr>
              <a:t>Approves new businesses, oversees users, moderates reviews.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1080" y="4480560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2E74B6"/>
                </a:solidFill>
                <a:latin typeface="Calibri"/>
              </a:rPr>
              <a:t>Wants a single overview with quick actions.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7607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B7380"/>
                </a:solidFill>
                <a:latin typeface="Calibri"/>
              </a:rPr>
              <a:t>The visual design has to feel professional for all three without making the codebase complicated to build.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380"/>
                </a:solidFill>
                <a:latin typeface="Calibri"/>
              </a:rPr>
              <a:t>SmartBook Pro — UI/UX Design — Beste Ozkan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62895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7380"/>
                </a:solidFill>
                <a:latin typeface="Calibri"/>
              </a:rPr>
              <a:t>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B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B7A1F"/>
                </a:solidFill>
                <a:latin typeface="Calibri"/>
              </a:rPr>
              <a:t>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Design System &amp; Style 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3A5F"/>
                </a:solidFill>
                <a:latin typeface="Calibri"/>
              </a:rPr>
              <a:t>Color Palette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1280160" cy="1280160"/>
          </a:xfrm>
          <a:prstGeom prst="rect">
            <a:avLst/>
          </a:prstGeom>
          <a:solidFill>
            <a:srgbClr val="1F3A5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10896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222B38"/>
                </a:solidFill>
                <a:latin typeface="Calibri"/>
              </a:rPr>
              <a:t>#1F3A5F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8328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222B38"/>
                </a:solidFill>
                <a:latin typeface="Calibri"/>
              </a:rPr>
              <a:t>Navy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576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6B7380"/>
                </a:solidFill>
                <a:latin typeface="Calibri"/>
              </a:rPr>
              <a:t>Primary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77440" y="1737360"/>
            <a:ext cx="1280160" cy="1280160"/>
          </a:xfrm>
          <a:prstGeom prst="rect">
            <a:avLst/>
          </a:prstGeom>
          <a:solidFill>
            <a:srgbClr val="2E74B6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77440" y="310896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222B38"/>
                </a:solidFill>
                <a:latin typeface="Calibri"/>
              </a:rPr>
              <a:t>#2E74B6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338328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222B38"/>
                </a:solidFill>
                <a:latin typeface="Calibri"/>
              </a:rPr>
              <a:t>Blue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36576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6B7380"/>
                </a:solidFill>
                <a:latin typeface="Calibri"/>
              </a:rPr>
              <a:t>Buttons / links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1737360"/>
            <a:ext cx="1280160" cy="1280160"/>
          </a:xfrm>
          <a:prstGeom prst="rect">
            <a:avLst/>
          </a:prstGeom>
          <a:solidFill>
            <a:srgbClr val="DB7A1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40" y="310896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222B38"/>
                </a:solidFill>
                <a:latin typeface="Calibri"/>
              </a:rPr>
              <a:t>#DB7A1F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338328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222B38"/>
                </a:solidFill>
                <a:latin typeface="Calibri"/>
              </a:rPr>
              <a:t>Orange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36576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6B7380"/>
                </a:solidFill>
                <a:latin typeface="Calibri"/>
              </a:rPr>
              <a:t>Accent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1737360"/>
            <a:ext cx="1280160" cy="1280160"/>
          </a:xfrm>
          <a:prstGeom prst="rect">
            <a:avLst/>
          </a:prstGeom>
          <a:solidFill>
            <a:srgbClr val="0A773D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35040" y="310896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222B38"/>
                </a:solidFill>
                <a:latin typeface="Calibri"/>
              </a:rPr>
              <a:t>#0A773D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338328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222B38"/>
                </a:solidFill>
                <a:latin typeface="Calibri"/>
              </a:rPr>
              <a:t>Green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36576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6B7380"/>
                </a:solidFill>
                <a:latin typeface="Calibri"/>
              </a:rPr>
              <a:t>Success / free slot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63840" y="1737360"/>
            <a:ext cx="1280160" cy="1280160"/>
          </a:xfrm>
          <a:prstGeom prst="rect">
            <a:avLst/>
          </a:prstGeom>
          <a:solidFill>
            <a:srgbClr val="C04A7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63840" y="310896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222B38"/>
                </a:solidFill>
                <a:latin typeface="Calibri"/>
              </a:rPr>
              <a:t>#C04A7C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338328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222B38"/>
                </a:solidFill>
                <a:latin typeface="Calibri"/>
              </a:rPr>
              <a:t>Pink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36576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6B7380"/>
                </a:solidFill>
                <a:latin typeface="Calibri"/>
              </a:rPr>
              <a:t>Tags / badges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92640" y="1737360"/>
            <a:ext cx="1280160" cy="1280160"/>
          </a:xfrm>
          <a:prstGeom prst="rect">
            <a:avLst/>
          </a:prstGeom>
          <a:solidFill>
            <a:srgbClr val="F2F4F7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92640" y="310896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222B38"/>
                </a:solidFill>
                <a:latin typeface="Calibri"/>
              </a:rPr>
              <a:t>#F2F4F7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338328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222B38"/>
                </a:solidFill>
                <a:latin typeface="Calibri"/>
              </a:rPr>
              <a:t>Light grey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2640" y="36576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6B7380"/>
                </a:solidFill>
                <a:latin typeface="Calibri"/>
              </a:rPr>
              <a:t>Backgrounds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297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3A5F"/>
                </a:solidFill>
                <a:latin typeface="Calibri"/>
              </a:rPr>
              <a:t>Typography &amp; Framework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754880"/>
            <a:ext cx="10972800" cy="18288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>
                <a:solidFill>
                  <a:srgbClr val="222B38"/>
                </a:solidFill>
                <a:latin typeface="Calibri"/>
              </a:rPr>
              <a:t>• Bootstrap 5 as the base — saves development time, looks consistent across browsers.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>
                <a:solidFill>
                  <a:srgbClr val="222B38"/>
                </a:solidFill>
                <a:latin typeface="Calibri"/>
              </a:rPr>
              <a:t>• Calibri / system font stack for all body text — clean and readable on any OS.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>
                <a:solidFill>
                  <a:srgbClr val="222B38"/>
                </a:solidFill>
                <a:latin typeface="Calibri"/>
              </a:rPr>
              <a:t>• Bold weights for headings, regular for body. No more than two sizes per screen.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>
                <a:solidFill>
                  <a:srgbClr val="222B38"/>
                </a:solidFill>
                <a:latin typeface="Calibri"/>
              </a:rPr>
              <a:t>• Custom CSS layered on top for the navbar, calendar grid, and dashboard cards.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380"/>
                </a:solidFill>
                <a:latin typeface="Calibri"/>
              </a:rPr>
              <a:t>SmartBook Pro — UI/UX Design — Beste Ozkan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62895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7380"/>
                </a:solidFill>
                <a:latin typeface="Calibri"/>
              </a:rPr>
              <a:t>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B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B7A1F"/>
                </a:solidFill>
                <a:latin typeface="Calibri"/>
              </a:rPr>
              <a:t>WALKTHROUGH 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Key Screens — Customer Side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5212080" cy="3200400"/>
          </a:xfrm>
          <a:prstGeom prst="rect">
            <a:avLst/>
          </a:prstGeom>
          <a:solidFill>
            <a:srgbClr val="F2F4F7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69748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1">
                <a:solidFill>
                  <a:srgbClr val="6B7380"/>
                </a:solidFill>
                <a:latin typeface="Calibri"/>
              </a:rPr>
              <a:t>[ Screenshot — Landing page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66344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3A5F"/>
                </a:solidFill>
                <a:latin typeface="Calibri"/>
              </a:rPr>
              <a:t>Landing page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029200"/>
            <a:ext cx="52120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22B38"/>
                </a:solidFill>
                <a:latin typeface="Calibri"/>
              </a:rPr>
              <a:t>Hero with featured businesses and a mini calendar so customers see availability before clicking. Uses navy + orange accent for visual hierarchy.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280160"/>
            <a:ext cx="5212080" cy="3200400"/>
          </a:xfrm>
          <a:prstGeom prst="rect">
            <a:avLst/>
          </a:prstGeom>
          <a:solidFill>
            <a:srgbClr val="F2F4F7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69748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1">
                <a:solidFill>
                  <a:srgbClr val="6B7380"/>
                </a:solidFill>
                <a:latin typeface="Calibri"/>
              </a:rPr>
              <a:t>[ Screenshot — Business detail page 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66344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3A5F"/>
                </a:solidFill>
                <a:latin typeface="Calibri"/>
              </a:rPr>
              <a:t>Business detail page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5029200"/>
            <a:ext cx="52120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22B38"/>
                </a:solidFill>
                <a:latin typeface="Calibri"/>
              </a:rPr>
              <a:t>Logo, gallery, service menu and customer reviews on one scrollable page. Generated logos use the business initial + brand color when no image is uploaded.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380"/>
                </a:solidFill>
                <a:latin typeface="Calibri"/>
              </a:rPr>
              <a:t>SmartBook Pro — UI/UX Design — Beste Ozkan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62895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7380"/>
                </a:solidFill>
                <a:latin typeface="Calibri"/>
              </a:rPr>
              <a:t>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B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B7A1F"/>
                </a:solidFill>
                <a:latin typeface="Calibri"/>
              </a:rPr>
              <a:t>WALKTHROUGH 2/2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Key Screens — Booking &amp; Dashboards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3611880" cy="3108960"/>
          </a:xfrm>
          <a:prstGeom prst="rect">
            <a:avLst/>
          </a:prstGeom>
          <a:solidFill>
            <a:srgbClr val="F2F4F7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651760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1">
                <a:solidFill>
                  <a:srgbClr val="6B7380"/>
                </a:solidFill>
                <a:latin typeface="Calibri"/>
              </a:rPr>
              <a:t>[ Screenshot — Booking calendar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526280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F3A5F"/>
                </a:solidFill>
                <a:latin typeface="Calibri"/>
              </a:rPr>
              <a:t>Booking calendar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892040"/>
            <a:ext cx="36118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22B38"/>
                </a:solidFill>
                <a:latin typeface="Calibri"/>
              </a:rPr>
              <a:t>Calendar grid shows free vs. booked days with color cues. Time slots split into AM / PM tabs to reduce visual clutter.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280160"/>
            <a:ext cx="3611880" cy="3108960"/>
          </a:xfrm>
          <a:prstGeom prst="rect">
            <a:avLst/>
          </a:prstGeom>
          <a:solidFill>
            <a:srgbClr val="F2F4F7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2651760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1">
                <a:solidFill>
                  <a:srgbClr val="6B7380"/>
                </a:solidFill>
                <a:latin typeface="Calibri"/>
              </a:rPr>
              <a:t>[ Screenshot — Owner dashboard 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4526280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F3A5F"/>
                </a:solidFill>
                <a:latin typeface="Calibri"/>
              </a:rPr>
              <a:t>Owner 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4892040"/>
            <a:ext cx="36118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22B38"/>
                </a:solidFill>
                <a:latin typeface="Calibri"/>
              </a:rPr>
              <a:t>Today's appointments at the top, then a weekly overview, top services and revenue trend at the bottom.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1280160"/>
            <a:ext cx="3611880" cy="3108960"/>
          </a:xfrm>
          <a:prstGeom prst="rect">
            <a:avLst/>
          </a:prstGeom>
          <a:solidFill>
            <a:srgbClr val="F2F4F7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2651760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1">
                <a:solidFill>
                  <a:srgbClr val="6B7380"/>
                </a:solidFill>
                <a:latin typeface="Calibri"/>
              </a:rPr>
              <a:t>[ Screenshot — Admin dashboard 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4526280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F3A5F"/>
                </a:solidFill>
                <a:latin typeface="Calibri"/>
              </a:rPr>
              <a:t>Admin 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4892040"/>
            <a:ext cx="36118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22B38"/>
                </a:solidFill>
                <a:latin typeface="Calibri"/>
              </a:rPr>
              <a:t>Single page with platform-wide stats, pending applications and recent appointments — all the actions an admin needs in one click.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380"/>
                </a:solidFill>
                <a:latin typeface="Calibri"/>
              </a:rPr>
              <a:t>SmartBook Pro — UI/UX Design — Beste Ozkan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62895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7380"/>
                </a:solidFill>
                <a:latin typeface="Calibri"/>
              </a:rPr>
              <a:t>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B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B7A1F"/>
                </a:solidFill>
                <a:latin typeface="Calibri"/>
              </a:rPr>
              <a:t>REASONING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Key Design Decisions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109728" cy="1051560"/>
          </a:xfrm>
          <a:prstGeom prst="rect">
            <a:avLst/>
          </a:prstGeom>
          <a:solidFill>
            <a:srgbClr val="DB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371600"/>
            <a:ext cx="10881360" cy="10515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6304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F3A5F"/>
                </a:solidFill>
                <a:latin typeface="Calibri"/>
              </a:rPr>
              <a:t>Bootstrap as the 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2880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22B38"/>
                </a:solidFill>
                <a:latin typeface="Calibri"/>
              </a:rPr>
              <a:t>Saved weeks of front-end work and gave us a consistent look across browsers. We layered our own colors and components on top.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587752"/>
            <a:ext cx="109728" cy="1051560"/>
          </a:xfrm>
          <a:prstGeom prst="rect">
            <a:avLst/>
          </a:prstGeom>
          <a:solidFill>
            <a:srgbClr val="DB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2587752"/>
            <a:ext cx="10881360" cy="10515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679192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F3A5F"/>
                </a:solidFill>
                <a:latin typeface="Calibri"/>
              </a:rPr>
              <a:t>Calendar-based booking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044952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22B38"/>
                </a:solidFill>
                <a:latin typeface="Calibri"/>
              </a:rPr>
              <a:t>Customers see availability at a glance instead of guessing dates from a dropdown. Color cues (green = free, grey = booked) make the page understandable in seconds.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803904"/>
            <a:ext cx="109728" cy="1051560"/>
          </a:xfrm>
          <a:prstGeom prst="rect">
            <a:avLst/>
          </a:prstGeom>
          <a:solidFill>
            <a:srgbClr val="DB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3803904"/>
            <a:ext cx="10881360" cy="10515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895344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F3A5F"/>
                </a:solidFill>
                <a:latin typeface="Calibri"/>
              </a:rPr>
              <a:t>Light &amp; dark mode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261104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22B38"/>
                </a:solidFill>
                <a:latin typeface="Calibri"/>
              </a:rPr>
              <a:t>A toggle in the navbar lets users switch — preference is stored in the session. Helps readability in different environments and adds a modern feel.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020056"/>
            <a:ext cx="109728" cy="1051560"/>
          </a:xfrm>
          <a:prstGeom prst="rect">
            <a:avLst/>
          </a:prstGeom>
          <a:solidFill>
            <a:srgbClr val="DB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5020056"/>
            <a:ext cx="10881360" cy="10515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111496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F3A5F"/>
                </a:solidFill>
                <a:latin typeface="Calibri"/>
              </a:rPr>
              <a:t>One layout per role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477256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222B38"/>
                </a:solidFill>
                <a:latin typeface="Calibri"/>
              </a:rPr>
              <a:t>Customers, owners and admins each get a dashboard tuned for their needs. Same design language, different priorities — fewer menus, faster decisions.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380"/>
                </a:solidFill>
                <a:latin typeface="Calibri"/>
              </a:rPr>
              <a:t>SmartBook Pro — UI/UX Design — Beste Ozkan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62895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7380"/>
                </a:solidFill>
                <a:latin typeface="Calibri"/>
              </a:rPr>
              <a:t>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B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B7A1F"/>
                </a:solidFill>
                <a:latin typeface="Calibri"/>
              </a:rPr>
              <a:t>ACCESSIBILITY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Responsive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2286000" cy="4572000"/>
          </a:xfrm>
          <a:prstGeom prst="rect">
            <a:avLst/>
          </a:prstGeom>
          <a:solidFill>
            <a:srgbClr val="F2F4F7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1">
                <a:solidFill>
                  <a:srgbClr val="6B7380"/>
                </a:solidFill>
                <a:latin typeface="Calibri"/>
              </a:rPr>
              <a:t>[ Screenshot — Mobile view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463040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F3A5F"/>
                </a:solidFill>
                <a:latin typeface="Calibri"/>
              </a:rPr>
              <a:t>Built mobile-first — works on any screen.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286000"/>
            <a:ext cx="7772400" cy="36576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>
                <a:solidFill>
                  <a:srgbClr val="222B38"/>
                </a:solidFill>
                <a:latin typeface="Calibri"/>
              </a:rPr>
              <a:t>• Navbar collapses into a hamburger menu under 992px width.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>
                <a:solidFill>
                  <a:srgbClr val="222B38"/>
                </a:solidFill>
                <a:latin typeface="Calibri"/>
              </a:rPr>
              <a:t>• Cards stack vertically on phones; side-by-side on tablets and desktops.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>
                <a:solidFill>
                  <a:srgbClr val="222B38"/>
                </a:solidFill>
                <a:latin typeface="Calibri"/>
              </a:rPr>
              <a:t>• Calendar grid shrinks to a swipeable month view on small screens.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>
                <a:solidFill>
                  <a:srgbClr val="222B38"/>
                </a:solidFill>
                <a:latin typeface="Calibri"/>
              </a:rPr>
              <a:t>• Buttons are tap-friendly (minimum 44px height) on touch devices.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>
                <a:solidFill>
                  <a:srgbClr val="222B38"/>
                </a:solidFill>
                <a:latin typeface="Calibri"/>
              </a:rPr>
              <a:t>• Forms use full-width inputs on mobile so users don't mistype.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380"/>
                </a:solidFill>
                <a:latin typeface="Calibri"/>
              </a:rPr>
              <a:t>SmartBook Pro — UI/UX Design — Beste Ozkan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62895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7380"/>
                </a:solidFill>
                <a:latin typeface="Calibri"/>
              </a:rPr>
              <a:t>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B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B7A1F"/>
                </a:solidFill>
                <a:latin typeface="Calibri"/>
              </a:rPr>
              <a:t>REFLECTION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Challenges &amp; Lessons Learned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5394960" cy="4572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44752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Challenges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5394960" cy="420624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11680"/>
            <a:ext cx="4937760" cy="39319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222B38"/>
                </a:solidFill>
                <a:latin typeface="Calibri"/>
              </a:rPr>
              <a:t>• Balancing Bootstrap defaults with our visual identity — too much customization slowed us down.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222B38"/>
                </a:solidFill>
                <a:latin typeface="Calibri"/>
              </a:rPr>
              <a:t>• Making the booking calendar obvious to first-time users without an onboarding tour.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222B38"/>
                </a:solidFill>
                <a:latin typeface="Calibri"/>
              </a:rPr>
              <a:t>• Designing dashboards that look full when there is little data, and clean when there is a lot.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222B38"/>
                </a:solidFill>
                <a:latin typeface="Calibri"/>
              </a:rPr>
              <a:t>• Keeping the dark mode legible on all components (badges, alerts, tables).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371600"/>
            <a:ext cx="5394960" cy="457200"/>
          </a:xfrm>
          <a:prstGeom prst="rect">
            <a:avLst/>
          </a:prstGeom>
          <a:solidFill>
            <a:srgbClr val="0A77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444752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What We Learned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828800"/>
            <a:ext cx="5394960" cy="420624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011680"/>
            <a:ext cx="4937760" cy="39319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222B38"/>
                </a:solidFill>
                <a:latin typeface="Calibri"/>
              </a:rPr>
              <a:t>• Pick a strong base framework early — most "design work" is then about choosing what to keep, change, or remove.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222B38"/>
                </a:solidFill>
                <a:latin typeface="Calibri"/>
              </a:rPr>
              <a:t>• Color cues (green / grey / orange) communicate faster than labels.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222B38"/>
                </a:solidFill>
                <a:latin typeface="Calibri"/>
              </a:rPr>
              <a:t>• Show a real prototype to teammates early, not after it is built.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222B38"/>
                </a:solidFill>
                <a:latin typeface="Calibri"/>
              </a:rPr>
              <a:t>• Less is more — every extra button is a decision the user has to make.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380"/>
                </a:solidFill>
                <a:latin typeface="Calibri"/>
              </a:rPr>
              <a:t>SmartBook Pro — UI/UX Design — Beste Ozkan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62895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7380"/>
                </a:solidFill>
                <a:latin typeface="Calibri"/>
              </a:rPr>
              <a:t>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B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B7A1F"/>
                </a:solidFill>
                <a:latin typeface="Calibri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Future Improvements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36576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600">
                <a:solidFill>
                  <a:srgbClr val="222B38"/>
                </a:solidFill>
                <a:latin typeface="Calibri"/>
              </a:rPr>
              <a:t>• Run a real usability test with users outside the team and iterate on the booking flow.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600">
                <a:solidFill>
                  <a:srgbClr val="222B38"/>
                </a:solidFill>
                <a:latin typeface="Calibri"/>
              </a:rPr>
              <a:t>• Replace the auto-generated logos with custom illustrations for the empty states.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600">
                <a:solidFill>
                  <a:srgbClr val="222B38"/>
                </a:solidFill>
                <a:latin typeface="Calibri"/>
              </a:rPr>
              <a:t>• Add light page-transition animations so dashboards feel less abrupt.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600">
                <a:solidFill>
                  <a:srgbClr val="222B38"/>
                </a:solidFill>
                <a:latin typeface="Calibri"/>
              </a:rPr>
              <a:t>• Build a small Figma file documenting components for any future contributor.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600">
                <a:solidFill>
                  <a:srgbClr val="222B38"/>
                </a:solidFill>
                <a:latin typeface="Calibri"/>
              </a:rPr>
              <a:t>• Audit all colors against WCAG AA contrast standards — currently spot-checked only.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029200"/>
            <a:ext cx="10881360" cy="12801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1663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Thank you — happy to take questions.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7607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DB7A1F"/>
                </a:solidFill>
                <a:latin typeface="Calibri"/>
              </a:rPr>
              <a:t>Beste Ozkan   ·   Designer / Front End   ·   SmartBook Pro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380"/>
                </a:solidFill>
                <a:latin typeface="Calibri"/>
              </a:rPr>
              <a:t>SmartBook Pro — UI/UX Design — Beste Ozkan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62895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7380"/>
                </a:solidFill>
                <a:latin typeface="Calibri"/>
              </a:rPr>
              <a:t>9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